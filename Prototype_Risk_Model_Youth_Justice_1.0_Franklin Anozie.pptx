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26" autoAdjust="0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2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4630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251814" y="1302106"/>
            <a:ext cx="9695383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100" b="1" kern="0" spc="-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 Risk Model</a:t>
            </a:r>
            <a:endParaRPr lang="en-US" sz="6100" dirty="0"/>
          </a:p>
        </p:txBody>
      </p:sp>
      <p:sp>
        <p:nvSpPr>
          <p:cNvPr id="4" name="Text 2"/>
          <p:cNvSpPr txBox="1"/>
          <p:nvPr/>
        </p:nvSpPr>
        <p:spPr>
          <a:xfrm>
            <a:off x="2845613" y="2446934"/>
            <a:ext cx="6510528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B8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Early Risk Identification &amp; Intervention Prioritisation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dirty="0">
                <a:solidFill>
                  <a:srgbClr val="00B8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Youth Justice Services in Ontario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2794406" y="3765499"/>
            <a:ext cx="66111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Franklin Anozie | Youth Services Officer | Sprucedale Youth Centre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27878" y="4165092"/>
            <a:ext cx="133776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March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99562" y="4898441"/>
            <a:ext cx="6400800" cy="657454"/>
          </a:xfrm>
          <a:prstGeom prst="roundRect">
            <a:avLst>
              <a:gd name="adj" fmla="val 100784"/>
            </a:avLst>
          </a:prstGeom>
          <a:noFill/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957170" y="5070348"/>
            <a:ext cx="62865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75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Evidence-informed. Interpretable. Action-ready.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867205"/>
            <a:ext cx="12191695" cy="28346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476402"/>
            <a:ext cx="1084021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Do We Know Which Youth Need Help First?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1695" y="2363724"/>
            <a:ext cx="3305556" cy="2009851"/>
          </a:xfrm>
          <a:prstGeom prst="roundRect">
            <a:avLst>
              <a:gd name="adj" fmla="val 2587"/>
            </a:avLst>
          </a:prstGeom>
          <a:solidFill>
            <a:srgbClr val="F8F9FA"/>
          </a:solidFill>
          <a:ln/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1695" y="2363724"/>
            <a:ext cx="47549" cy="2009851"/>
          </a:xfrm>
          <a:prstGeom prst="roundRect">
            <a:avLst>
              <a:gd name="adj" fmla="val 109369"/>
            </a:avLst>
          </a:prstGeom>
          <a:solidFill>
            <a:srgbClr val="E74C3C"/>
          </a:solidFill>
          <a:ln w="12700">
            <a:solidFill>
              <a:srgbClr val="E74C3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95451" y="2697480"/>
            <a:ext cx="553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🔴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095451" y="3268980"/>
            <a:ext cx="2762402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Youth at higher risk of reoffending are not always easy to identify early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44898" y="2363724"/>
            <a:ext cx="3305556" cy="2009851"/>
          </a:xfrm>
          <a:prstGeom prst="roundRect">
            <a:avLst>
              <a:gd name="adj" fmla="val 2587"/>
            </a:avLst>
          </a:prstGeom>
          <a:solidFill>
            <a:srgbClr val="F8F9FA"/>
          </a:solidFill>
          <a:ln/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44898" y="2363724"/>
            <a:ext cx="47549" cy="2009851"/>
          </a:xfrm>
          <a:prstGeom prst="roundRect">
            <a:avLst>
              <a:gd name="adj" fmla="val 109369"/>
            </a:avLst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778654" y="2697480"/>
            <a:ext cx="553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🟠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778654" y="3268980"/>
            <a:ext cx="2762402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Staff must make complex case planning decisions without data-driven support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102" y="2363724"/>
            <a:ext cx="3305556" cy="2009851"/>
          </a:xfrm>
          <a:prstGeom prst="roundRect">
            <a:avLst>
              <a:gd name="adj" fmla="val 2587"/>
            </a:avLst>
          </a:prstGeom>
          <a:solidFill>
            <a:srgbClr val="F8F9FA"/>
          </a:solidFill>
          <a:ln/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28102" y="2363724"/>
            <a:ext cx="47549" cy="2009851"/>
          </a:xfrm>
          <a:prstGeom prst="roundRect">
            <a:avLst>
              <a:gd name="adj" fmla="val 109369"/>
            </a:avLst>
          </a:prstGeom>
          <a:solidFill>
            <a:srgbClr val="F39C12"/>
          </a:solidFill>
          <a:ln w="12700">
            <a:solidFill>
              <a:srgbClr val="F39C1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60943" y="2697480"/>
            <a:ext cx="553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🟡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460943" y="3268980"/>
            <a:ext cx="2762402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resources need to be allocated where they will have the most impact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1695" y="5181905"/>
            <a:ext cx="10668305" cy="1104595"/>
          </a:xfrm>
          <a:prstGeom prst="roundRect">
            <a:avLst>
              <a:gd name="adj" fmla="val 5709"/>
            </a:avLst>
          </a:prstGeom>
          <a:solidFill>
            <a:srgbClr val="E8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1695" y="5181905"/>
            <a:ext cx="47549" cy="1104595"/>
          </a:xfrm>
          <a:prstGeom prst="roundRect">
            <a:avLst>
              <a:gd name="adj" fmla="val 132625"/>
            </a:avLst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143000" y="5447995"/>
            <a:ext cx="1003005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0A19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prototype model gives staff an additional, evidence-informed lens — without replacing professional judgment.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9" y="-177884"/>
            <a:ext cx="12191695" cy="70358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314907"/>
            <a:ext cx="12191695" cy="28346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476402"/>
            <a:ext cx="1181313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Decision-Support Tool for Youth Justice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1695" y="1622699"/>
            <a:ext cx="5171846" cy="1867205"/>
          </a:xfrm>
          <a:prstGeom prst="roundRect">
            <a:avLst>
              <a:gd name="adj" fmla="val 2998"/>
            </a:avLst>
          </a:prstGeom>
          <a:solidFill>
            <a:srgbClr val="F8F9FA"/>
          </a:solidFill>
          <a:ln w="25400">
            <a:solidFill>
              <a:srgbClr val="E8F5F3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010205" y="1975658"/>
            <a:ext cx="6766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🎯</a:t>
            </a:r>
            <a:endParaRPr lang="en-US" sz="3700" dirty="0"/>
          </a:p>
        </p:txBody>
      </p:sp>
      <p:sp>
        <p:nvSpPr>
          <p:cNvPr id="7" name="Text 5"/>
          <p:cNvSpPr txBox="1"/>
          <p:nvPr/>
        </p:nvSpPr>
        <p:spPr>
          <a:xfrm>
            <a:off x="884225" y="2623053"/>
            <a:ext cx="49249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Estimates the likelihood of reoffending within 2 years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58153" y="1620427"/>
            <a:ext cx="5171846" cy="1867205"/>
          </a:xfrm>
          <a:prstGeom prst="roundRect">
            <a:avLst>
              <a:gd name="adj" fmla="val 2998"/>
            </a:avLst>
          </a:prstGeom>
          <a:solidFill>
            <a:srgbClr val="F8F9FA"/>
          </a:solidFill>
          <a:ln w="25400">
            <a:solidFill>
              <a:srgbClr val="E8F5F3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8506662" y="1973386"/>
            <a:ext cx="6766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📊</a:t>
            </a:r>
            <a:endParaRPr lang="en-US" sz="3700" dirty="0"/>
          </a:p>
        </p:txBody>
      </p:sp>
      <p:sp>
        <p:nvSpPr>
          <p:cNvPr id="10" name="Text 8"/>
          <p:cNvSpPr txBox="1"/>
          <p:nvPr/>
        </p:nvSpPr>
        <p:spPr>
          <a:xfrm>
            <a:off x="6426402" y="2620781"/>
            <a:ext cx="48390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Surfaces the key risk and protective factors per case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1754" y="3790612"/>
            <a:ext cx="5171846" cy="1867205"/>
          </a:xfrm>
          <a:prstGeom prst="roundRect">
            <a:avLst>
              <a:gd name="adj" fmla="val 2998"/>
            </a:avLst>
          </a:prstGeom>
          <a:solidFill>
            <a:srgbClr val="F8F9FA"/>
          </a:solidFill>
          <a:ln w="25400">
            <a:solidFill>
              <a:srgbClr val="E8F5F3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020264" y="4142656"/>
            <a:ext cx="6766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🔍</a:t>
            </a:r>
            <a:endParaRPr lang="en-US" sz="3700" dirty="0"/>
          </a:p>
        </p:txBody>
      </p:sp>
      <p:sp>
        <p:nvSpPr>
          <p:cNvPr id="13" name="Text 11"/>
          <p:cNvSpPr txBox="1"/>
          <p:nvPr/>
        </p:nvSpPr>
        <p:spPr>
          <a:xfrm>
            <a:off x="771754" y="4967935"/>
            <a:ext cx="51535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Helps prioritise which youth need intensive intervention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48400" y="3791647"/>
            <a:ext cx="5171846" cy="1867205"/>
          </a:xfrm>
          <a:prstGeom prst="roundRect">
            <a:avLst>
              <a:gd name="adj" fmla="val 2998"/>
            </a:avLst>
          </a:prstGeom>
          <a:solidFill>
            <a:srgbClr val="F8F9FA"/>
          </a:solidFill>
          <a:ln w="25400">
            <a:solidFill>
              <a:srgbClr val="E8F5F3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496909" y="4143691"/>
            <a:ext cx="6766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📋</a:t>
            </a:r>
            <a:endParaRPr lang="en-US" sz="3700" dirty="0"/>
          </a:p>
        </p:txBody>
      </p:sp>
      <p:sp>
        <p:nvSpPr>
          <p:cNvPr id="16" name="Text 14"/>
          <p:cNvSpPr txBox="1"/>
          <p:nvPr/>
        </p:nvSpPr>
        <p:spPr>
          <a:xfrm>
            <a:off x="6515404" y="4791086"/>
            <a:ext cx="463875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Supports resource allocation and case planning decisions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1694" y="5895561"/>
            <a:ext cx="10668305" cy="761695"/>
          </a:xfrm>
          <a:prstGeom prst="roundRect">
            <a:avLst>
              <a:gd name="adj" fmla="val 12005"/>
            </a:avLst>
          </a:prstGeom>
          <a:solidFill>
            <a:srgbClr val="E8F5F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761695" y="5895561"/>
            <a:ext cx="47549" cy="761695"/>
          </a:xfrm>
          <a:prstGeom prst="roundRect">
            <a:avLst>
              <a:gd name="adj" fmla="val 192307"/>
            </a:avLst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180947" y="6133304"/>
            <a:ext cx="101544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0A19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is not about replacing caseworkers — it is about giving them better information.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314907"/>
            <a:ext cx="12191695" cy="28346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476402"/>
            <a:ext cx="10858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Data Was Used?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1695" y="1466394"/>
            <a:ext cx="10668305" cy="1191766"/>
          </a:xfrm>
          <a:prstGeom prst="roundRect">
            <a:avLst>
              <a:gd name="adj" fmla="val 3076"/>
            </a:avLst>
          </a:prstGeom>
          <a:solidFill>
            <a:srgbClr val="E8F5F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 flipH="1">
            <a:off x="710589" y="1466394"/>
            <a:ext cx="45719" cy="1191766"/>
          </a:xfrm>
          <a:prstGeom prst="roundRect">
            <a:avLst>
              <a:gd name="adj" fmla="val 97371"/>
            </a:avLst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143000" y="1593421"/>
            <a:ext cx="100684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Dataset:</a:t>
            </a: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De-identified male youth records — Sprucedale Youth Centre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959181"/>
            <a:ext cx="100684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</a:t>
            </a: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youth records (synthetic/de-identified for prototype)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324941"/>
            <a:ext cx="100684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</a:t>
            </a:r>
            <a:r>
              <a:rPr lang="en-US" sz="1400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variables across core categories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476755"/>
              </p:ext>
            </p:extLst>
          </p:nvPr>
        </p:nvGraphicFramePr>
        <p:xfrm>
          <a:off x="807413" y="2759202"/>
          <a:ext cx="10622587" cy="3997754"/>
        </p:xfrm>
        <a:graphic>
          <a:graphicData uri="http://schemas.openxmlformats.org/drawingml/2006/table">
            <a:tbl>
              <a:tblPr/>
              <a:tblGrid>
                <a:gridCol w="1896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5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795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Category</a:t>
                      </a:r>
                      <a:endParaRPr lang="en-US" sz="13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37744" marR="237744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237744" marR="237744" marT="171907" marB="171907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0A192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Demographics</a:t>
                      </a:r>
                      <a:endParaRPr lang="en-US" sz="1275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37744" marR="237744" marT="190195" marB="190195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Age at release, Release year</a:t>
                      </a:r>
                      <a:endParaRPr lang="en-US" sz="1275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37744" marR="237744" marT="190195" marB="190195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0A192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Custody</a:t>
                      </a:r>
                      <a:endParaRPr lang="en-US" sz="1275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37744" marR="237744" marT="190195" marB="190195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Custody type, Sentence length, Time served</a:t>
                      </a:r>
                      <a:endParaRPr lang="en-US" sz="1275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37744" marR="237744" marT="190195" marB="190195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0A192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Offence History</a:t>
                      </a:r>
                      <a:endParaRPr lang="en-US" sz="1275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37744" marR="237744" marT="190195" marB="190195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Offence category, Prior charges, Prior convictions, Prior violent/property/drug offence</a:t>
                      </a:r>
                      <a:endParaRPr lang="en-US" sz="1275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37744" marR="237744" marT="190195" marB="190195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0A192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Social Factors</a:t>
                      </a:r>
                      <a:endParaRPr lang="en-US" sz="1275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37744" marR="237744" marT="190195" marB="190195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School enrolment, Employment status, Housing instability</a:t>
                      </a:r>
                      <a:endParaRPr lang="en-US" sz="1275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37744" marR="237744" marT="190195" marB="190195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0A192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Mental Health</a:t>
                      </a:r>
                      <a:endParaRPr lang="en-US" sz="1275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37744" marR="237744" marT="190195" marB="190195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Prior mental health contact</a:t>
                      </a:r>
                      <a:endParaRPr lang="en-US" sz="1275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37744" marR="237744" marT="190195" marB="190195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7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b="1" dirty="0">
                          <a:solidFill>
                            <a:srgbClr val="0A192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Outcome</a:t>
                      </a:r>
                      <a:endParaRPr lang="en-US" sz="1275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37744" marR="237744" marT="190195" marB="190195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75" dirty="0">
                          <a:solidFill>
                            <a:srgbClr val="2C3E50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Reoffended within 2 years (Yes/No)</a:t>
                      </a:r>
                      <a:endParaRPr lang="en-US" sz="1275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37744" marR="237744" marT="190195" marB="190195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314907"/>
            <a:ext cx="12191695" cy="28346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476402"/>
            <a:ext cx="1209659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Model Was Built — In Plain English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112825" y="1767535"/>
            <a:ext cx="101407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🗂️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1299362" y="2491740"/>
            <a:ext cx="648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75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33095" y="2834640"/>
            <a:ext cx="2171700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cleaned and prepared — no missing values across all 70 records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920594" y="2500884"/>
            <a:ext cx="457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B8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32758" y="2010766"/>
            <a:ext cx="74340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✂️</a:t>
            </a:r>
            <a:endParaRPr lang="en-US" sz="4200" dirty="0"/>
          </a:p>
        </p:txBody>
      </p:sp>
      <p:sp>
        <p:nvSpPr>
          <p:cNvPr id="10" name="Text 8"/>
          <p:cNvSpPr txBox="1"/>
          <p:nvPr/>
        </p:nvSpPr>
        <p:spPr>
          <a:xfrm>
            <a:off x="4268419" y="2734970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75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17697" y="3077870"/>
            <a:ext cx="21717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Train/test split — 80/20 (56 training, 14 test)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05195" y="2500884"/>
            <a:ext cx="457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B8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217359" y="1889150"/>
            <a:ext cx="74340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🤖</a:t>
            </a:r>
            <a:endParaRPr lang="en-US" sz="4200" dirty="0"/>
          </a:p>
        </p:txBody>
      </p:sp>
      <p:sp>
        <p:nvSpPr>
          <p:cNvPr id="14" name="Text 12"/>
          <p:cNvSpPr txBox="1"/>
          <p:nvPr/>
        </p:nvSpPr>
        <p:spPr>
          <a:xfrm>
            <a:off x="7253021" y="2613355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75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02298" y="2956255"/>
            <a:ext cx="21717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Logistic Regression trained — chosen for interpretability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889797" y="2500884"/>
            <a:ext cx="457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B8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0201961" y="2010766"/>
            <a:ext cx="743407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✅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10230307" y="273497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75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486900" y="3077870"/>
            <a:ext cx="21717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Evaluated on unseen test data — results validated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1500" y="4867351"/>
            <a:ext cx="11048695" cy="1104595"/>
          </a:xfrm>
          <a:prstGeom prst="roundRect">
            <a:avLst>
              <a:gd name="adj" fmla="val 5709"/>
            </a:avLst>
          </a:prstGeom>
          <a:solidFill>
            <a:srgbClr val="E8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1500" y="4867351"/>
            <a:ext cx="47549" cy="1104595"/>
          </a:xfrm>
          <a:prstGeom prst="roundRect">
            <a:avLst>
              <a:gd name="adj" fmla="val 132625"/>
            </a:avLst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52805" y="5133441"/>
            <a:ext cx="1041135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0A19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Logistic Regression was chosen because it explains WHY it makes a prediction — critical for a professional environment.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-1" y="1682266"/>
            <a:ext cx="12191695" cy="28346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476402"/>
            <a:ext cx="1084021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Puts Youth at Higher Risk of Reoffending?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3" r="-13"/>
          <a:stretch/>
        </p:blipFill>
        <p:spPr>
          <a:xfrm>
            <a:off x="748892" y="1911816"/>
            <a:ext cx="3365906" cy="32973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60726" y="2245572"/>
            <a:ext cx="6007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🔴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1210664" y="2836275"/>
            <a:ext cx="250545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 Violent Offence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41347" y="3226723"/>
            <a:ext cx="163951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E74C3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+1.08</a:t>
            </a:r>
            <a:endParaRPr lang="en-US" sz="3900" dirty="0"/>
          </a:p>
        </p:txBody>
      </p:sp>
      <p:sp>
        <p:nvSpPr>
          <p:cNvPr id="9" name="Text 6"/>
          <p:cNvSpPr txBox="1"/>
          <p:nvPr/>
        </p:nvSpPr>
        <p:spPr>
          <a:xfrm>
            <a:off x="1035099" y="3835714"/>
            <a:ext cx="28575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STRONGEST predictor — youth with prior violent offences significantly more likely to reoffend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944013" y="4583344"/>
            <a:ext cx="1037844" cy="286207"/>
          </a:xfrm>
          <a:prstGeom prst="roundRect">
            <a:avLst>
              <a:gd name="adj" fmla="val 212993"/>
            </a:avLst>
          </a:prstGeom>
          <a:solidFill>
            <a:srgbClr val="E74C3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2040025" y="4647701"/>
            <a:ext cx="8485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STRONGEST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11" r="-11"/>
          <a:stretch/>
        </p:blipFill>
        <p:spPr>
          <a:xfrm>
            <a:off x="4406493" y="1907104"/>
            <a:ext cx="3365906" cy="329732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18327" y="2240860"/>
            <a:ext cx="6007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🟠</a:t>
            </a:r>
            <a:endParaRPr lang="en-US" sz="3300" dirty="0"/>
          </a:p>
        </p:txBody>
      </p:sp>
      <p:sp>
        <p:nvSpPr>
          <p:cNvPr id="14" name="Text 10"/>
          <p:cNvSpPr txBox="1"/>
          <p:nvPr/>
        </p:nvSpPr>
        <p:spPr>
          <a:xfrm>
            <a:off x="4654296" y="2831563"/>
            <a:ext cx="2936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Violent Offence Category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296205" y="3222011"/>
            <a:ext cx="1647749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+0.56</a:t>
            </a:r>
            <a:endParaRPr lang="en-US" sz="3900" dirty="0"/>
          </a:p>
        </p:txBody>
      </p:sp>
      <p:sp>
        <p:nvSpPr>
          <p:cNvPr id="16" name="Text 12"/>
          <p:cNvSpPr txBox="1"/>
          <p:nvPr/>
        </p:nvSpPr>
        <p:spPr>
          <a:xfrm>
            <a:off x="4692701" y="3831002"/>
            <a:ext cx="28575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 offence type matters — violent offences show higher reoffending risk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13" r="-13"/>
          <a:stretch/>
        </p:blipFill>
        <p:spPr>
          <a:xfrm>
            <a:off x="8077204" y="1899450"/>
            <a:ext cx="3365906" cy="329732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475927" y="2201571"/>
            <a:ext cx="6007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🟡</a:t>
            </a:r>
            <a:endParaRPr lang="en-US" sz="3300" dirty="0"/>
          </a:p>
        </p:txBody>
      </p:sp>
      <p:sp>
        <p:nvSpPr>
          <p:cNvPr id="19" name="Text 14"/>
          <p:cNvSpPr txBox="1"/>
          <p:nvPr/>
        </p:nvSpPr>
        <p:spPr>
          <a:xfrm>
            <a:off x="8350301" y="2792274"/>
            <a:ext cx="28575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 Mental Health Contact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953805" y="3430525"/>
            <a:ext cx="164592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F39C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+0.52</a:t>
            </a:r>
            <a:endParaRPr lang="en-US" sz="3900" dirty="0"/>
          </a:p>
        </p:txBody>
      </p:sp>
      <p:sp>
        <p:nvSpPr>
          <p:cNvPr id="21" name="Text 16"/>
          <p:cNvSpPr txBox="1"/>
          <p:nvPr/>
        </p:nvSpPr>
        <p:spPr>
          <a:xfrm>
            <a:off x="8350301" y="4039515"/>
            <a:ext cx="28575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Youth with mental health history show higher risk of reoffending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48892" y="5421741"/>
            <a:ext cx="10668305" cy="1145978"/>
          </a:xfrm>
          <a:prstGeom prst="roundRect">
            <a:avLst>
              <a:gd name="adj" fmla="val 3845"/>
            </a:avLst>
          </a:prstGeom>
          <a:solidFill>
            <a:srgbClr val="F8F9FA"/>
          </a:solidFill>
          <a:ln w="25400">
            <a:solidFill>
              <a:srgbClr val="E8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 txBox="1"/>
          <p:nvPr/>
        </p:nvSpPr>
        <p:spPr>
          <a:xfrm>
            <a:off x="1108253" y="5554103"/>
            <a:ext cx="100776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Additional Correlation Evidence: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1108253" y="5884861"/>
            <a:ext cx="167792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 violent offence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1108253" y="6128091"/>
            <a:ext cx="88422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 = 0.31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3646627" y="5884861"/>
            <a:ext cx="1610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 charges count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3646627" y="6128091"/>
            <a:ext cx="94091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 = 0.27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6185001" y="5884861"/>
            <a:ext cx="18937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 convictions count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6185001" y="6128091"/>
            <a:ext cx="94091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 = 0.26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8723376" y="5884861"/>
            <a:ext cx="2267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 mental health contact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8723376" y="6128091"/>
            <a:ext cx="87325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 = 0.15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401" y="-274322"/>
            <a:ext cx="12191695" cy="713232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-12257" y="883311"/>
            <a:ext cx="12191695" cy="28346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187452"/>
            <a:ext cx="10858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Reduces the Risk of Reoffending?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3" r="-13"/>
          <a:stretch/>
        </p:blipFill>
        <p:spPr>
          <a:xfrm>
            <a:off x="768641" y="1100151"/>
            <a:ext cx="3365906" cy="329732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51214" y="1645390"/>
            <a:ext cx="6007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🟢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1410550" y="2236093"/>
            <a:ext cx="208757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Employment Status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34578" y="2626542"/>
            <a:ext cx="16386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-0.93</a:t>
            </a:r>
            <a:endParaRPr lang="en-US" sz="3900" dirty="0"/>
          </a:p>
        </p:txBody>
      </p:sp>
      <p:sp>
        <p:nvSpPr>
          <p:cNvPr id="9" name="Text 6"/>
          <p:cNvSpPr txBox="1"/>
          <p:nvPr/>
        </p:nvSpPr>
        <p:spPr>
          <a:xfrm>
            <a:off x="1025587" y="3235532"/>
            <a:ext cx="28575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STRONGEST protective factor — employed youth significantly less likely to reoffend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513877" y="3990826"/>
            <a:ext cx="1876349" cy="286207"/>
          </a:xfrm>
          <a:prstGeom prst="roundRect">
            <a:avLst>
              <a:gd name="adj" fmla="val 212993"/>
            </a:avLst>
          </a:prstGeom>
          <a:solidFill>
            <a:srgbClr val="00B8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1608975" y="4047519"/>
            <a:ext cx="16861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STRONGEST PROTECTIVE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11" r="-11"/>
          <a:stretch/>
        </p:blipFill>
        <p:spPr>
          <a:xfrm>
            <a:off x="4426242" y="1090745"/>
            <a:ext cx="3365906" cy="329732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38076" y="1424501"/>
            <a:ext cx="6007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🔵</a:t>
            </a:r>
            <a:endParaRPr lang="en-US" sz="3300" dirty="0"/>
          </a:p>
        </p:txBody>
      </p:sp>
      <p:sp>
        <p:nvSpPr>
          <p:cNvPr id="14" name="Text 10"/>
          <p:cNvSpPr txBox="1"/>
          <p:nvPr/>
        </p:nvSpPr>
        <p:spPr>
          <a:xfrm>
            <a:off x="5040719" y="2015204"/>
            <a:ext cx="220187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 Drug Offence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321440" y="2405653"/>
            <a:ext cx="164043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-0.58</a:t>
            </a:r>
            <a:endParaRPr lang="en-US" sz="3900" dirty="0"/>
          </a:p>
        </p:txBody>
      </p:sp>
      <p:sp>
        <p:nvSpPr>
          <p:cNvPr id="16" name="Text 12"/>
          <p:cNvSpPr txBox="1"/>
          <p:nvPr/>
        </p:nvSpPr>
        <p:spPr>
          <a:xfrm>
            <a:off x="4712450" y="3014643"/>
            <a:ext cx="28575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Suggests existing drug interventions may be effective</a:t>
            </a:r>
            <a:endParaRPr lang="en-US" sz="12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13" r="-13"/>
          <a:stretch/>
        </p:blipFill>
        <p:spPr>
          <a:xfrm>
            <a:off x="8041779" y="1089575"/>
            <a:ext cx="3365906" cy="329732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453612" y="1423331"/>
            <a:ext cx="60076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🔵</a:t>
            </a:r>
            <a:endParaRPr lang="en-US" sz="3300" dirty="0"/>
          </a:p>
        </p:txBody>
      </p:sp>
      <p:sp>
        <p:nvSpPr>
          <p:cNvPr id="19" name="Text 14"/>
          <p:cNvSpPr txBox="1"/>
          <p:nvPr/>
        </p:nvSpPr>
        <p:spPr>
          <a:xfrm>
            <a:off x="8776042" y="2014034"/>
            <a:ext cx="196138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School Enrolment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938805" y="2404483"/>
            <a:ext cx="163769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900" b="1" dirty="0">
                <a:solidFill>
                  <a:srgbClr val="3498D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-0.25</a:t>
            </a:r>
            <a:endParaRPr lang="en-US" sz="3900" dirty="0"/>
          </a:p>
        </p:txBody>
      </p:sp>
      <p:sp>
        <p:nvSpPr>
          <p:cNvPr id="21" name="Text 16"/>
          <p:cNvSpPr txBox="1"/>
          <p:nvPr/>
        </p:nvSpPr>
        <p:spPr>
          <a:xfrm>
            <a:off x="8327986" y="3013473"/>
            <a:ext cx="28575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Enrolled youth show lower risk — education matters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68641" y="4575616"/>
            <a:ext cx="10668305" cy="1134423"/>
          </a:xfrm>
          <a:prstGeom prst="roundRect">
            <a:avLst>
              <a:gd name="adj" fmla="val 4265"/>
            </a:avLst>
          </a:prstGeom>
          <a:solidFill>
            <a:srgbClr val="F8F9FA"/>
          </a:solidFill>
          <a:ln w="25400">
            <a:solidFill>
              <a:srgbClr val="E8F5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18"/>
          <p:cNvSpPr txBox="1"/>
          <p:nvPr/>
        </p:nvSpPr>
        <p:spPr>
          <a:xfrm>
            <a:off x="1074051" y="4725681"/>
            <a:ext cx="100776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Correlation Support: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1074051" y="5077621"/>
            <a:ext cx="1559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Employment status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1074051" y="5320852"/>
            <a:ext cx="104333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 = -0.26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4474704" y="5077621"/>
            <a:ext cx="14968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 drug offence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4474704" y="5320852"/>
            <a:ext cx="98663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 = -0.18</a:t>
            </a:r>
            <a:endParaRPr lang="en-US" sz="1600" dirty="0"/>
          </a:p>
        </p:txBody>
      </p:sp>
      <p:sp>
        <p:nvSpPr>
          <p:cNvPr id="28" name="Text 23"/>
          <p:cNvSpPr txBox="1"/>
          <p:nvPr/>
        </p:nvSpPr>
        <p:spPr>
          <a:xfrm>
            <a:off x="7874443" y="5077621"/>
            <a:ext cx="1270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School enrolled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7874443" y="5320852"/>
            <a:ext cx="97566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 = -0.12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761695" y="5908981"/>
            <a:ext cx="10645838" cy="695194"/>
          </a:xfrm>
          <a:prstGeom prst="roundRect">
            <a:avLst>
              <a:gd name="adj" fmla="val 12304"/>
            </a:avLst>
          </a:prstGeom>
          <a:solidFill>
            <a:srgbClr val="E8F5F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1" name="Shape 26"/>
          <p:cNvSpPr/>
          <p:nvPr/>
        </p:nvSpPr>
        <p:spPr>
          <a:xfrm>
            <a:off x="761694" y="5908981"/>
            <a:ext cx="47449" cy="695194"/>
          </a:xfrm>
          <a:prstGeom prst="roundRect">
            <a:avLst>
              <a:gd name="adj" fmla="val 194741"/>
            </a:avLst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1142999" y="6146725"/>
            <a:ext cx="10617551" cy="234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0A19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Investing in employment support and school reintegration is not just good practice — the data supports 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1314907"/>
            <a:ext cx="12191695" cy="28346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476402"/>
            <a:ext cx="10858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Well Does the Model Perform?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61695" y="1672438"/>
            <a:ext cx="2523744" cy="1923898"/>
          </a:xfrm>
          <a:prstGeom prst="roundRect">
            <a:avLst>
              <a:gd name="adj" fmla="val 2353"/>
            </a:avLst>
          </a:prstGeom>
          <a:solidFill>
            <a:srgbClr val="F8F9FA"/>
          </a:solidFill>
          <a:ln w="25400">
            <a:solidFill>
              <a:srgbClr val="E8F5F3"/>
            </a:solidFill>
            <a:prstDash val="solid"/>
          </a:ln>
          <a:effectLst>
            <a:outerShdw blurRad="1016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772107" y="1901038"/>
            <a:ext cx="5056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📊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1683410" y="2358238"/>
            <a:ext cx="6848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Accuracy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627071"/>
            <a:ext cx="8577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57%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40334" y="3065069"/>
            <a:ext cx="2369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Moderate, expected for small dataset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6549" y="1672438"/>
            <a:ext cx="2523744" cy="1923898"/>
          </a:xfrm>
          <a:prstGeom prst="roundRect">
            <a:avLst>
              <a:gd name="adj" fmla="val 2353"/>
            </a:avLst>
          </a:prstGeom>
          <a:solidFill>
            <a:srgbClr val="F8F9FA"/>
          </a:solidFill>
          <a:ln w="25400">
            <a:solidFill>
              <a:srgbClr val="E8F5F3"/>
            </a:solidFill>
            <a:prstDash val="solid"/>
          </a:ln>
          <a:effectLst>
            <a:outerShdw blurRad="1016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486961" y="1901038"/>
            <a:ext cx="5056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🎯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410151" y="2358238"/>
            <a:ext cx="657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ROC AUC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260190" y="2627071"/>
            <a:ext cx="96194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0.76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629254" y="3065069"/>
            <a:ext cx="22201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Good discriminatory power (random = 0.50)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91402" y="1672438"/>
            <a:ext cx="2523744" cy="1923898"/>
          </a:xfrm>
          <a:prstGeom prst="roundRect">
            <a:avLst>
              <a:gd name="adj" fmla="val 2353"/>
            </a:avLst>
          </a:prstGeom>
          <a:solidFill>
            <a:srgbClr val="F8F9FA"/>
          </a:solidFill>
          <a:ln w="25400">
            <a:solidFill>
              <a:srgbClr val="E8F5F3"/>
            </a:solidFill>
            <a:prstDash val="solid"/>
          </a:ln>
          <a:effectLst>
            <a:outerShdw blurRad="1016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200900" y="1901038"/>
            <a:ext cx="5056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📈</a:t>
            </a:r>
            <a:endParaRPr lang="en-US" sz="2700" dirty="0"/>
          </a:p>
        </p:txBody>
      </p:sp>
      <p:sp>
        <p:nvSpPr>
          <p:cNvPr id="17" name="Text 15"/>
          <p:cNvSpPr txBox="1"/>
          <p:nvPr/>
        </p:nvSpPr>
        <p:spPr>
          <a:xfrm>
            <a:off x="6850685" y="2358238"/>
            <a:ext cx="121340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Class 1 F1 Score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976872" y="2627071"/>
            <a:ext cx="96194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0.62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282842" y="3065069"/>
            <a:ext cx="23463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Good at identifying likely reoffenders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06256" y="1672438"/>
            <a:ext cx="2523744" cy="1923898"/>
          </a:xfrm>
          <a:prstGeom prst="roundRect">
            <a:avLst>
              <a:gd name="adj" fmla="val 2353"/>
            </a:avLst>
          </a:prstGeom>
          <a:solidFill>
            <a:srgbClr val="F8F9FA"/>
          </a:solidFill>
          <a:ln w="25400">
            <a:solidFill>
              <a:srgbClr val="E8F5F3"/>
            </a:solidFill>
            <a:prstDash val="solid"/>
          </a:ln>
          <a:effectLst>
            <a:outerShdw blurRad="1016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915754" y="1901038"/>
            <a:ext cx="5056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📉</a:t>
            </a:r>
            <a:endParaRPr lang="en-US" sz="2700" dirty="0"/>
          </a:p>
        </p:txBody>
      </p:sp>
      <p:sp>
        <p:nvSpPr>
          <p:cNvPr id="22" name="Text 20"/>
          <p:cNvSpPr txBox="1"/>
          <p:nvPr/>
        </p:nvSpPr>
        <p:spPr>
          <a:xfrm>
            <a:off x="9485986" y="2358238"/>
            <a:ext cx="1371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Precision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686239" y="2627071"/>
            <a:ext cx="96469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0.64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9067190" y="3065069"/>
            <a:ext cx="221101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Consistent precision-recall balance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884699"/>
              </p:ext>
            </p:extLst>
          </p:nvPr>
        </p:nvGraphicFramePr>
        <p:xfrm>
          <a:off x="3169310" y="3806404"/>
          <a:ext cx="5843016" cy="1775764"/>
        </p:xfrm>
        <a:graphic>
          <a:graphicData uri="http://schemas.openxmlformats.org/drawingml/2006/table">
            <a:tbl>
              <a:tblPr/>
              <a:tblGrid>
                <a:gridCol w="1840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5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6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Predicted: No Reoffend</a:t>
                      </a:r>
                      <a:endParaRPr lang="en-US" sz="11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Predicted: Reoffend</a:t>
                      </a:r>
                      <a:endParaRPr lang="en-US" sz="1125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90195" marR="190195" marT="133502" marB="133502" anchor="ctr">
                    <a:lnL w="0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8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0A192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Actual: No Reoffend</a:t>
                      </a:r>
                      <a:endParaRPr lang="en-US" sz="1125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28600" marR="228600" marT="152705" marB="152705" anchor="ctr">
                    <a:lnL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00B89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 ✅</a:t>
                      </a:r>
                      <a:endParaRPr lang="en-US" sz="1125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28600" marR="228600" marT="152705" marB="152705" anchor="ctr">
                    <a:lnL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E74C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 ❌</a:t>
                      </a:r>
                      <a:endParaRPr lang="en-US" sz="1125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28600" marR="228600" marT="152705" marB="152705" anchor="ctr">
                    <a:lnL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0A192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Actual: Reoffend</a:t>
                      </a:r>
                      <a:endParaRPr lang="en-US" sz="1125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28600" marR="228600" marT="152705" marB="152705" anchor="ctr">
                    <a:lnL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E74C3C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 ❌</a:t>
                      </a:r>
                      <a:endParaRPr lang="en-US" sz="1125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28600" marR="228600" marT="152705" marB="152705" anchor="ctr">
                    <a:lnL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25" b="1" dirty="0">
                          <a:solidFill>
                            <a:srgbClr val="00B894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 ✅</a:t>
                      </a:r>
                      <a:endParaRPr lang="en-US" sz="1125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228600" marR="228600" marT="152705" marB="152705" anchor="ctr">
                    <a:lnL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F5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761695" y="5790240"/>
            <a:ext cx="10668305" cy="800100"/>
          </a:xfrm>
          <a:prstGeom prst="roundRect">
            <a:avLst>
              <a:gd name="adj" fmla="val 10884"/>
            </a:avLst>
          </a:prstGeom>
          <a:solidFill>
            <a:srgbClr val="FFF8E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761695" y="5790240"/>
            <a:ext cx="47549" cy="800100"/>
          </a:xfrm>
          <a:prstGeom prst="roundRect">
            <a:avLst>
              <a:gd name="adj" fmla="val 183149"/>
            </a:avLst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1095451" y="5961233"/>
            <a:ext cx="101251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 a small test set of 14 cases, a ROC AUC of 0.76 shows the model has real discriminatory value. Performance will improve significantly with more data.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867205"/>
            <a:ext cx="12191695" cy="28346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476402"/>
            <a:ext cx="1084021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Understanding Predictive Power: ROC AUC 0.76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809598" y="2363724"/>
            <a:ext cx="8572500" cy="267005"/>
          </a:xfrm>
          <a:prstGeom prst="roundRect">
            <a:avLst>
              <a:gd name="adj" fmla="val 171233"/>
            </a:avLst>
          </a:prstGeom>
          <a:solidFill>
            <a:srgbClr val="E8F5F3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09598" y="2363724"/>
            <a:ext cx="4457700" cy="267005"/>
          </a:xfrm>
          <a:prstGeom prst="roundRect">
            <a:avLst>
              <a:gd name="adj" fmla="val 171233"/>
            </a:avLst>
          </a:prstGeom>
          <a:solidFill>
            <a:srgbClr val="00B8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561795" y="2820924"/>
            <a:ext cx="5056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0.50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24712" y="3154680"/>
            <a:ext cx="13789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Random Guessing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14500" y="2344522"/>
            <a:ext cx="190195" cy="1901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23814" y="1858975"/>
            <a:ext cx="895198" cy="552298"/>
          </a:xfrm>
          <a:prstGeom prst="roundRect">
            <a:avLst>
              <a:gd name="adj" fmla="val 57091"/>
            </a:avLst>
          </a:prstGeom>
          <a:solidFill>
            <a:srgbClr val="00B89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B89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995721" y="1935785"/>
            <a:ext cx="6099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MODEL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953658" y="2764231"/>
            <a:ext cx="63642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0.76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5063947" y="3097073"/>
            <a:ext cx="24149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8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Good Discriminatory Ability</a:t>
            </a:r>
            <a:endParaRPr lang="en-US" sz="12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15507" y="2287829"/>
            <a:ext cx="304495" cy="30449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153498" y="2820924"/>
            <a:ext cx="4572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3E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1.00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9646920" y="3154680"/>
            <a:ext cx="14740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F8C8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Perfect Prediction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287000" y="2344522"/>
            <a:ext cx="190195" cy="19019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61695" y="3584448"/>
            <a:ext cx="10668305" cy="1173177"/>
          </a:xfrm>
          <a:prstGeom prst="roundRect">
            <a:avLst>
              <a:gd name="adj" fmla="val 5039"/>
            </a:avLst>
          </a:prstGeom>
          <a:solidFill>
            <a:srgbClr val="F8F9FA"/>
          </a:solidFill>
          <a:ln w="25400">
            <a:solidFill>
              <a:srgbClr val="E8F5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6"/>
          <p:cNvSpPr txBox="1"/>
          <p:nvPr/>
        </p:nvSpPr>
        <p:spPr>
          <a:xfrm>
            <a:off x="1122883" y="3888943"/>
            <a:ext cx="9946843" cy="70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AUC of </a:t>
            </a:r>
            <a:r>
              <a:rPr lang="en-US" sz="1800" b="1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0.76</a:t>
            </a:r>
            <a:r>
              <a:rPr lang="en-US" sz="16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means that in </a:t>
            </a:r>
            <a:r>
              <a:rPr lang="en-US" sz="1800" b="1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76% of cases</a:t>
            </a:r>
            <a:r>
              <a:rPr lang="en-US" sz="16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the model correctly ranks a youth who will reoffend higher than one who will not — a meaningful improvement over chance.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28903" y="5082265"/>
            <a:ext cx="10620756" cy="1047903"/>
          </a:xfrm>
          <a:prstGeom prst="roundRect">
            <a:avLst>
              <a:gd name="adj" fmla="val 5709"/>
            </a:avLst>
          </a:prstGeom>
          <a:solidFill>
            <a:srgbClr val="E8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81354" y="5082265"/>
            <a:ext cx="47549" cy="1047903"/>
          </a:xfrm>
          <a:prstGeom prst="roundRect">
            <a:avLst>
              <a:gd name="adj" fmla="val 132625"/>
            </a:avLst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210208" y="5348355"/>
            <a:ext cx="99349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0A19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a prototype built on 70 records, this is a strong result. With real operational data, performance would be expected to improve significantly.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14907"/>
            <a:ext cx="12191695" cy="28346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476402"/>
            <a:ext cx="1124620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This Means for Staff on the Ground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0" r="-10"/>
          <a:stretch/>
        </p:blipFill>
        <p:spPr>
          <a:xfrm>
            <a:off x="761695" y="1767535"/>
            <a:ext cx="3365906" cy="24057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0766" y="212049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🗂️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1571854" y="2767889"/>
            <a:ext cx="17529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Planning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52805" y="3183026"/>
            <a:ext cx="29910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risk scores to prioritise supervision intensity and supports for each young person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4412894" y="1767535"/>
            <a:ext cx="3365906" cy="240578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772607" y="2120494"/>
            <a:ext cx="648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📦</a:t>
            </a:r>
            <a:endParaRPr lang="en-US" sz="3600" dirty="0"/>
          </a:p>
        </p:txBody>
      </p:sp>
      <p:sp>
        <p:nvSpPr>
          <p:cNvPr id="11" name="Text 7"/>
          <p:cNvSpPr txBox="1"/>
          <p:nvPr/>
        </p:nvSpPr>
        <p:spPr>
          <a:xfrm>
            <a:off x="4887468" y="2767889"/>
            <a:ext cx="242407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 Allocation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04004" y="3183026"/>
            <a:ext cx="29910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Allocate limited program spots (employment, mental health, education) to highest-risk youth first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rcRect l="-10" r="-10"/>
          <a:stretch/>
        </p:blipFill>
        <p:spPr>
          <a:xfrm>
            <a:off x="8064094" y="1767535"/>
            <a:ext cx="3365906" cy="240578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423806" y="2120494"/>
            <a:ext cx="648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📋</a:t>
            </a:r>
            <a:endParaRPr lang="en-US" sz="3600" dirty="0"/>
          </a:p>
        </p:txBody>
      </p:sp>
      <p:sp>
        <p:nvSpPr>
          <p:cNvPr id="15" name="Text 10"/>
          <p:cNvSpPr txBox="1"/>
          <p:nvPr/>
        </p:nvSpPr>
        <p:spPr>
          <a:xfrm>
            <a:off x="8334756" y="2767889"/>
            <a:ext cx="283281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&amp; Documentation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255203" y="3183026"/>
            <a:ext cx="29910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model outputs as an additional evidence layer in case files and reviews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rcRect l="-7" r="-7"/>
          <a:stretch/>
        </p:blipFill>
        <p:spPr>
          <a:xfrm>
            <a:off x="761695" y="4688129"/>
            <a:ext cx="10668305" cy="169346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00607" y="4992624"/>
            <a:ext cx="996330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8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SCENARIO: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200607" y="5479085"/>
            <a:ext cx="7401154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r>
              <a:rPr lang="en-US" sz="14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16-year-old male</a:t>
            </a:r>
            <a:r>
              <a:rPr lang="en-US" sz="14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a </a:t>
            </a:r>
            <a:r>
              <a:rPr lang="en-US" sz="14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 violent offence</a:t>
            </a:r>
            <a:r>
              <a:rPr lang="en-US" sz="14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4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 mental health contact</a:t>
            </a:r>
            <a:r>
              <a:rPr lang="en-US" sz="14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</a:t>
            </a:r>
            <a:r>
              <a:rPr lang="en-US" sz="14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current employment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707831" y="5549494"/>
            <a:ext cx="381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5"/>
          <p:cNvSpPr/>
          <p:nvPr/>
        </p:nvSpPr>
        <p:spPr>
          <a:xfrm>
            <a:off x="9488729" y="5534863"/>
            <a:ext cx="1561795" cy="485546"/>
          </a:xfrm>
          <a:prstGeom prst="roundRect">
            <a:avLst>
              <a:gd name="adj" fmla="val 29541"/>
            </a:avLst>
          </a:prstGeom>
          <a:solidFill>
            <a:srgbClr val="E67E22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E67E22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 txBox="1"/>
          <p:nvPr/>
        </p:nvSpPr>
        <p:spPr>
          <a:xfrm>
            <a:off x="9754819" y="5649163"/>
            <a:ext cx="11055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RISK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444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305" y="1392450"/>
            <a:ext cx="12191695" cy="28346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224578"/>
            <a:ext cx="1084021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Bigger Picture — How This Could Be Extended at MCCSS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6" r="-6"/>
          <a:stretch/>
        </p:blipFill>
        <p:spPr>
          <a:xfrm>
            <a:off x="799186" y="1625443"/>
            <a:ext cx="5214823" cy="16532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85393" y="1939997"/>
            <a:ext cx="5815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📂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1794053" y="1939997"/>
            <a:ext cx="4058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Operational Data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94053" y="2326788"/>
            <a:ext cx="40197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Replace synthetic data with actual MCCSS case records for stronger predictions and real-world applicability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l="-6" r="-6"/>
          <a:stretch/>
        </p:blipFill>
        <p:spPr>
          <a:xfrm>
            <a:off x="6215177" y="1624889"/>
            <a:ext cx="5214823" cy="16532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00470" y="1939443"/>
            <a:ext cx="5815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🔄</a:t>
            </a:r>
            <a:endParaRPr lang="en-US" sz="3100" dirty="0"/>
          </a:p>
        </p:txBody>
      </p:sp>
      <p:sp>
        <p:nvSpPr>
          <p:cNvPr id="11" name="Text 7"/>
          <p:cNvSpPr txBox="1"/>
          <p:nvPr/>
        </p:nvSpPr>
        <p:spPr>
          <a:xfrm>
            <a:off x="7209130" y="1939443"/>
            <a:ext cx="4058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Larger Sample Size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209130" y="2326234"/>
            <a:ext cx="4019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More records equals better model performance, increased confidence, and more robust insights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799186" y="3488665"/>
            <a:ext cx="5214823" cy="142463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85393" y="3803219"/>
            <a:ext cx="5815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⚖️</a:t>
            </a:r>
            <a:endParaRPr lang="en-US" sz="3100" dirty="0"/>
          </a:p>
        </p:txBody>
      </p:sp>
      <p:sp>
        <p:nvSpPr>
          <p:cNvPr id="15" name="Text 10"/>
          <p:cNvSpPr txBox="1"/>
          <p:nvPr/>
        </p:nvSpPr>
        <p:spPr>
          <a:xfrm>
            <a:off x="1794053" y="3803219"/>
            <a:ext cx="4058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Fairness &amp; Bias Checks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794053" y="4189095"/>
            <a:ext cx="4019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 the model for demographic fairness before any operational use to ensure ethical application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rcRect l="-8" r="-8"/>
          <a:stretch/>
        </p:blipFill>
        <p:spPr>
          <a:xfrm>
            <a:off x="6215177" y="3495751"/>
            <a:ext cx="5214823" cy="142463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500470" y="3810305"/>
            <a:ext cx="5815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🔗</a:t>
            </a:r>
            <a:endParaRPr lang="en-US" sz="3100" dirty="0"/>
          </a:p>
        </p:txBody>
      </p:sp>
      <p:sp>
        <p:nvSpPr>
          <p:cNvPr id="19" name="Text 13"/>
          <p:cNvSpPr txBox="1"/>
          <p:nvPr/>
        </p:nvSpPr>
        <p:spPr>
          <a:xfrm>
            <a:off x="7209130" y="3810305"/>
            <a:ext cx="40581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Integration with Systems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7209130" y="4196181"/>
            <a:ext cx="4019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 with Power BI dashboards or existing case management systems for seamless workflow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99186" y="5140124"/>
            <a:ext cx="10668305" cy="1499870"/>
          </a:xfrm>
          <a:prstGeom prst="roundRect">
            <a:avLst>
              <a:gd name="adj" fmla="val 2116"/>
            </a:avLst>
          </a:prstGeom>
          <a:solidFill>
            <a:srgbClr val="E8F5F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Shape 16"/>
          <p:cNvSpPr/>
          <p:nvPr/>
        </p:nvSpPr>
        <p:spPr>
          <a:xfrm>
            <a:off x="799186" y="5133552"/>
            <a:ext cx="47549" cy="1499870"/>
          </a:xfrm>
          <a:prstGeom prst="roundRect">
            <a:avLst>
              <a:gd name="adj" fmla="val 90285"/>
            </a:avLst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 txBox="1"/>
          <p:nvPr/>
        </p:nvSpPr>
        <p:spPr>
          <a:xfrm>
            <a:off x="1180948" y="5248937"/>
            <a:ext cx="1006845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38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MCCSS-RELEVANT EXTENSIONS: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1464869" y="5570062"/>
            <a:ext cx="97639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Cross-site validation across multiple youth centres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464869" y="5907207"/>
            <a:ext cx="97639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Integration with existing risk assessment tools (e.g., YLS/CMI)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1465326" y="6244080"/>
            <a:ext cx="97639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for program evaluation — track whether interventions change risk scores over time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14907"/>
            <a:ext cx="12191695" cy="28346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476402"/>
            <a:ext cx="10858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This Project Demonstrates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571500" y="1767535"/>
            <a:ext cx="2057400" cy="23317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22553" y="2082089"/>
            <a:ext cx="76078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🗄️</a:t>
            </a:r>
            <a:endParaRPr lang="en-US" sz="3100" dirty="0"/>
          </a:p>
        </p:txBody>
      </p:sp>
      <p:sp>
        <p:nvSpPr>
          <p:cNvPr id="7" name="Text 4"/>
          <p:cNvSpPr txBox="1"/>
          <p:nvPr/>
        </p:nvSpPr>
        <p:spPr>
          <a:xfrm>
            <a:off x="886968" y="2653589"/>
            <a:ext cx="14346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Handling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08660" y="3010205"/>
            <a:ext cx="178308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Loaded, cleaned, and structured a real-world style dataset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2819095" y="1767535"/>
            <a:ext cx="2057400" cy="23317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60674" y="2082089"/>
            <a:ext cx="5815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🔍</a:t>
            </a:r>
            <a:endParaRPr lang="en-US" sz="3100" dirty="0"/>
          </a:p>
        </p:txBody>
      </p:sp>
      <p:sp>
        <p:nvSpPr>
          <p:cNvPr id="11" name="Text 7"/>
          <p:cNvSpPr txBox="1"/>
          <p:nvPr/>
        </p:nvSpPr>
        <p:spPr>
          <a:xfrm>
            <a:off x="2956255" y="2653589"/>
            <a:ext cx="1783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2956255" y="3232404"/>
            <a:ext cx="178308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Distributions, correlation heatmaps, feature–target analysis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5067605" y="1767535"/>
            <a:ext cx="2057400" cy="23317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808269" y="2082089"/>
            <a:ext cx="5815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🤖</a:t>
            </a:r>
            <a:endParaRPr lang="en-US" sz="3100" dirty="0"/>
          </a:p>
        </p:txBody>
      </p:sp>
      <p:sp>
        <p:nvSpPr>
          <p:cNvPr id="15" name="Text 10"/>
          <p:cNvSpPr txBox="1"/>
          <p:nvPr/>
        </p:nvSpPr>
        <p:spPr>
          <a:xfrm>
            <a:off x="5603443" y="2653589"/>
            <a:ext cx="9930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Modelling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5204765" y="3010205"/>
            <a:ext cx="178308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Train/test split, one-hot encoding, logistic regression</a:t>
            </a:r>
            <a:endParaRPr lang="en-US" sz="10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7315200" y="1767535"/>
            <a:ext cx="2057400" cy="23317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055864" y="2082089"/>
            <a:ext cx="5815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📖</a:t>
            </a:r>
            <a:endParaRPr lang="en-US" sz="3100" dirty="0"/>
          </a:p>
        </p:txBody>
      </p:sp>
      <p:sp>
        <p:nvSpPr>
          <p:cNvPr id="19" name="Text 13"/>
          <p:cNvSpPr txBox="1"/>
          <p:nvPr/>
        </p:nvSpPr>
        <p:spPr>
          <a:xfrm>
            <a:off x="7593178" y="2653589"/>
            <a:ext cx="15078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7452360" y="3010205"/>
            <a:ext cx="178308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Translated coefficients into policy-relevant language</a:t>
            </a:r>
            <a:endParaRPr lang="en-US" sz="10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rcRect l="-3" r="-3"/>
          <a:stretch/>
        </p:blipFill>
        <p:spPr>
          <a:xfrm>
            <a:off x="9562795" y="1767535"/>
            <a:ext cx="2057400" cy="23317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304374" y="2082089"/>
            <a:ext cx="5815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💬</a:t>
            </a:r>
            <a:endParaRPr lang="en-US" sz="3100" dirty="0"/>
          </a:p>
        </p:txBody>
      </p:sp>
      <p:sp>
        <p:nvSpPr>
          <p:cNvPr id="23" name="Text 16"/>
          <p:cNvSpPr txBox="1"/>
          <p:nvPr/>
        </p:nvSpPr>
        <p:spPr>
          <a:xfrm>
            <a:off x="9830714" y="2653589"/>
            <a:ext cx="1524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9699955" y="3010205"/>
            <a:ext cx="178308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 narrative linking analysis to outcomes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571500" y="5277002"/>
            <a:ext cx="11048695" cy="1104595"/>
          </a:xfrm>
          <a:prstGeom prst="roundRect">
            <a:avLst>
              <a:gd name="adj" fmla="val 5709"/>
            </a:avLst>
          </a:prstGeom>
          <a:solidFill>
            <a:srgbClr val="E8F5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19"/>
          <p:cNvSpPr/>
          <p:nvPr/>
        </p:nvSpPr>
        <p:spPr>
          <a:xfrm>
            <a:off x="571500" y="5277002"/>
            <a:ext cx="47549" cy="1104595"/>
          </a:xfrm>
          <a:prstGeom prst="roundRect">
            <a:avLst>
              <a:gd name="adj" fmla="val 132625"/>
            </a:avLst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0"/>
          <p:cNvSpPr txBox="1"/>
          <p:nvPr/>
        </p:nvSpPr>
        <p:spPr>
          <a:xfrm>
            <a:off x="961949" y="5544007"/>
            <a:ext cx="103162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A19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to demonstrate applied analytical thinking in a youth justice context — bridging data science with operational practice.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14907"/>
            <a:ext cx="12191695" cy="28346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476402"/>
            <a:ext cx="10858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an Interpretable Model Matters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7" b="-7"/>
          <a:stretch/>
        </p:blipFill>
        <p:spPr>
          <a:xfrm>
            <a:off x="761695" y="1767535"/>
            <a:ext cx="5167274" cy="330189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902" y="2671877"/>
            <a:ext cx="4600346" cy="19202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047902" y="2157984"/>
            <a:ext cx="325160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 Regression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918204" y="2168042"/>
            <a:ext cx="875995" cy="304495"/>
          </a:xfrm>
          <a:prstGeom prst="roundRect">
            <a:avLst>
              <a:gd name="adj" fmla="val 187688"/>
            </a:avLst>
          </a:prstGeom>
          <a:solidFill>
            <a:srgbClr val="00B89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051706" y="2225650"/>
            <a:ext cx="685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CHOSEN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47902" y="2926080"/>
            <a:ext cx="3054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8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429207" y="2926080"/>
            <a:ext cx="43342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Explains WHY it makes each prediction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47902" y="3356762"/>
            <a:ext cx="3054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8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429207" y="3356762"/>
            <a:ext cx="43342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Clear, readable coefficients per factor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47902" y="3787445"/>
            <a:ext cx="3054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8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429207" y="3787445"/>
            <a:ext cx="49057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Easy to audit and explain to management and courts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047902" y="4217213"/>
            <a:ext cx="3054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B8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429207" y="4217213"/>
            <a:ext cx="43342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Appropriate for small datasets</a:t>
            </a:r>
            <a:endParaRPr lang="en-US" sz="12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t="-7" b="-7"/>
          <a:stretch/>
        </p:blipFill>
        <p:spPr>
          <a:xfrm>
            <a:off x="6262726" y="1767535"/>
            <a:ext cx="5167274" cy="330189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548018" y="2671877"/>
            <a:ext cx="4600346" cy="19202"/>
          </a:xfrm>
          <a:prstGeom prst="rect">
            <a:avLst/>
          </a:prstGeom>
          <a:solidFill>
            <a:srgbClr val="000000">
              <a:alpha val="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6548018" y="2157984"/>
            <a:ext cx="274594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Black-Box Models</a:t>
            </a:r>
            <a:endParaRPr lang="en-US" sz="2100" dirty="0"/>
          </a:p>
        </p:txBody>
      </p:sp>
      <p:sp>
        <p:nvSpPr>
          <p:cNvPr id="21" name="Text 17"/>
          <p:cNvSpPr txBox="1"/>
          <p:nvPr/>
        </p:nvSpPr>
        <p:spPr>
          <a:xfrm>
            <a:off x="6548018" y="2926080"/>
            <a:ext cx="3621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⚠️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6929323" y="2926080"/>
            <a:ext cx="43342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Potentially higher accuracy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6548018" y="3356762"/>
            <a:ext cx="3621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⚠️</a:t>
            </a:r>
            <a:endParaRPr lang="en-US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6929323" y="3356762"/>
            <a:ext cx="453176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Cannot easily explain individual predictions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6548018" y="3787445"/>
            <a:ext cx="3621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⚠️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6929323" y="3787445"/>
            <a:ext cx="43342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Hard to audit for fairness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548018" y="4217213"/>
            <a:ext cx="36210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67E2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⚠️</a:t>
            </a:r>
            <a:endParaRPr lang="en-US" sz="1800" dirty="0"/>
          </a:p>
        </p:txBody>
      </p:sp>
      <p:sp>
        <p:nvSpPr>
          <p:cNvPr id="28" name="Text 24"/>
          <p:cNvSpPr txBox="1"/>
          <p:nvPr/>
        </p:nvSpPr>
        <p:spPr>
          <a:xfrm>
            <a:off x="6929323" y="4217213"/>
            <a:ext cx="4295851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appropriate for high-stakes decisions about young people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761695" y="5402275"/>
            <a:ext cx="10668305" cy="979323"/>
          </a:xfrm>
          <a:prstGeom prst="roundRect">
            <a:avLst>
              <a:gd name="adj" fmla="val 6777"/>
            </a:avLst>
          </a:prstGeom>
          <a:solidFill>
            <a:srgbClr val="FFF8E1"/>
          </a:solidFill>
          <a:ln/>
          <a:effectLst>
            <a:outerShdw blurRad="114300" dist="38100" dir="16200000" algn="bl" rotWithShape="0">
              <a:srgbClr val="E67E22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761695" y="5402275"/>
            <a:ext cx="57607" cy="979323"/>
          </a:xfrm>
          <a:prstGeom prst="roundRect">
            <a:avLst>
              <a:gd name="adj" fmla="val 133387"/>
            </a:avLst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 txBox="1"/>
          <p:nvPr/>
        </p:nvSpPr>
        <p:spPr>
          <a:xfrm>
            <a:off x="1164188" y="5732631"/>
            <a:ext cx="9925812" cy="503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9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 Youth Justice, </a:t>
            </a:r>
            <a:r>
              <a:rPr lang="en-US" sz="15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interpretability is not optional</a:t>
            </a:r>
            <a:r>
              <a:rPr lang="en-US" sz="1500" b="1" dirty="0">
                <a:solidFill>
                  <a:srgbClr val="0A19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it is an </a:t>
            </a:r>
            <a:r>
              <a:rPr lang="en-US" sz="1500" b="1" dirty="0">
                <a:solidFill>
                  <a:srgbClr val="E67E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ethical and professional requirement</a:t>
            </a:r>
            <a:r>
              <a:rPr lang="en-US" sz="1500" b="1" dirty="0">
                <a:solidFill>
                  <a:srgbClr val="0A19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314907"/>
            <a:ext cx="12191695" cy="28346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61695" y="476402"/>
            <a:ext cx="10858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 Am Asking For Today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13" r="-13"/>
          <a:stretch/>
        </p:blipFill>
        <p:spPr>
          <a:xfrm>
            <a:off x="761695" y="1767535"/>
            <a:ext cx="3365906" cy="252100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9521" y="2120494"/>
            <a:ext cx="6766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💬</a:t>
            </a:r>
            <a:endParaRPr lang="en-US" sz="3700" dirty="0"/>
          </a:p>
        </p:txBody>
      </p:sp>
      <p:sp>
        <p:nvSpPr>
          <p:cNvPr id="7" name="Text 4"/>
          <p:cNvSpPr txBox="1"/>
          <p:nvPr/>
        </p:nvSpPr>
        <p:spPr>
          <a:xfrm>
            <a:off x="1492301" y="2806294"/>
            <a:ext cx="19147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Feedback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72007" y="3255264"/>
            <a:ext cx="29535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 aspects of this model are most relevant to your work?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l="-10" r="-10"/>
          <a:stretch/>
        </p:blipFill>
        <p:spPr>
          <a:xfrm>
            <a:off x="4412894" y="1767535"/>
            <a:ext cx="3365906" cy="252100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760720" y="2120494"/>
            <a:ext cx="6766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🔗</a:t>
            </a:r>
            <a:endParaRPr lang="en-US" sz="3700" dirty="0"/>
          </a:p>
        </p:txBody>
      </p:sp>
      <p:sp>
        <p:nvSpPr>
          <p:cNvPr id="11" name="Text 7"/>
          <p:cNvSpPr txBox="1"/>
          <p:nvPr/>
        </p:nvSpPr>
        <p:spPr>
          <a:xfrm>
            <a:off x="5214823" y="2806294"/>
            <a:ext cx="176662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Connection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23206" y="3255264"/>
            <a:ext cx="29535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Introduction to the internal analytics team or data unit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rcRect l="-13" r="-13"/>
          <a:stretch/>
        </p:blipFill>
        <p:spPr>
          <a:xfrm>
            <a:off x="8064094" y="1767535"/>
            <a:ext cx="3365906" cy="252100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411919" y="2120494"/>
            <a:ext cx="67665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📋</a:t>
            </a:r>
            <a:endParaRPr lang="en-US" sz="3700" dirty="0"/>
          </a:p>
        </p:txBody>
      </p:sp>
      <p:sp>
        <p:nvSpPr>
          <p:cNvPr id="15" name="Text 10"/>
          <p:cNvSpPr txBox="1"/>
          <p:nvPr/>
        </p:nvSpPr>
        <p:spPr>
          <a:xfrm>
            <a:off x="9140342" y="2806294"/>
            <a:ext cx="12198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Guidance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8274406" y="3255264"/>
            <a:ext cx="2953512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Any formal pathway to explore a data/analytics secondment or transition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rcRect l="-1" r="-1"/>
          <a:stretch/>
        </p:blipFill>
        <p:spPr>
          <a:xfrm>
            <a:off x="761695" y="4754880"/>
            <a:ext cx="10668305" cy="132869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28954" y="5088636"/>
            <a:ext cx="9811512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A19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"This prototype is a </a:t>
            </a:r>
            <a:r>
              <a:rPr lang="en-US" sz="1500" b="1" i="1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starting point</a:t>
            </a:r>
            <a:r>
              <a:rPr lang="en-US" sz="1500" b="1" i="1" dirty="0">
                <a:solidFill>
                  <a:srgbClr val="0A19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not a finished product. With real data, organisational support, and proper fairness checks, this kind of tool could genuinely support </a:t>
            </a:r>
            <a:r>
              <a:rPr lang="en-US" sz="1500" b="1" i="1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better outcomes for youth in Ontario</a:t>
            </a:r>
            <a:r>
              <a:rPr lang="en-US" sz="1500" b="1" i="1" dirty="0">
                <a:solidFill>
                  <a:srgbClr val="0A192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."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3989527" y="614477"/>
            <a:ext cx="421995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1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3560674" y="2024482"/>
            <a:ext cx="50776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>
                    <a:alpha val="9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appreciate your time and consideration.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4667098" y="2842870"/>
            <a:ext cx="2857500" cy="2834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179162" y="3300070"/>
            <a:ext cx="183428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8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Franklin Anozie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3496666" y="3719779"/>
            <a:ext cx="52011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Youth Services Officer | Sprucedale Youth Centre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392217" y="4138574"/>
            <a:ext cx="141732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March 2026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471416" y="4871923"/>
            <a:ext cx="325343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kern="0" spc="7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 welcome.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2627071" y="5605272"/>
            <a:ext cx="6943954" cy="638251"/>
          </a:xfrm>
          <a:prstGeom prst="roundRect">
            <a:avLst>
              <a:gd name="adj" fmla="val 17106"/>
            </a:avLst>
          </a:prstGeom>
          <a:solidFill>
            <a:srgbClr val="00B894">
              <a:alpha val="10000"/>
            </a:srgbClr>
          </a:solidFill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2637130" y="5796382"/>
            <a:ext cx="692475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8" dirty="0">
                <a:solidFill>
                  <a:srgbClr val="00B8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Logistic Regression</a:t>
            </a:r>
            <a:r>
              <a:rPr lang="en-US" sz="1300" b="1" kern="0" spc="38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|</a:t>
            </a:r>
            <a:r>
              <a:rPr lang="en-US" sz="1300" b="1" kern="0" spc="38" dirty="0">
                <a:solidFill>
                  <a:srgbClr val="00B8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ROC AUC: 0.76</a:t>
            </a:r>
            <a:r>
              <a:rPr lang="en-US" sz="1300" b="1" kern="0" spc="38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|</a:t>
            </a:r>
            <a:r>
              <a:rPr lang="en-US" sz="1300" b="1" kern="0" spc="38" dirty="0">
                <a:solidFill>
                  <a:srgbClr val="00B8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 Records</a:t>
            </a:r>
            <a:r>
              <a:rPr lang="en-US" sz="1300" b="1" kern="0" spc="38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|</a:t>
            </a:r>
            <a:r>
              <a:rPr lang="en-US" sz="1300" b="1" kern="0" spc="38" dirty="0">
                <a:solidFill>
                  <a:srgbClr val="00B8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Prototype Stage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9674</TotalTime>
  <Words>1185</Words>
  <Application>Microsoft Office PowerPoint</Application>
  <PresentationFormat>Widescreen</PresentationFormat>
  <Paragraphs>241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Franklin Anozie</cp:lastModifiedBy>
  <cp:revision>19</cp:revision>
  <dcterms:created xsi:type="dcterms:W3CDTF">2026-02-24T16:30:53Z</dcterms:created>
  <dcterms:modified xsi:type="dcterms:W3CDTF">2026-03-09T13:31:40Z</dcterms:modified>
</cp:coreProperties>
</file>